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7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79" r:id="rId7"/>
    <p:sldId id="263" r:id="rId8"/>
    <p:sldId id="262" r:id="rId9"/>
    <p:sldId id="264" r:id="rId10"/>
    <p:sldId id="266" r:id="rId11"/>
    <p:sldId id="267" r:id="rId12"/>
    <p:sldId id="268" r:id="rId13"/>
    <p:sldId id="269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27D2EF-9CF5-4B84-9C7C-33BBCE7C0059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E64DE1-0283-4FE4-A41F-F61A9540C7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98178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E64DE1-0283-4FE4-A41F-F61A9540C7A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2940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47309-D265-493D-92F8-808A8C764BC1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F38596-0AF0-4E35-BE3F-792F8CA143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36577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47309-D265-493D-92F8-808A8C764BC1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6DF38596-0AF0-4E35-BE3F-792F8CA143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29039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47309-D265-493D-92F8-808A8C764BC1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F38596-0AF0-4E35-BE3F-792F8CA143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47698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47309-D265-493D-92F8-808A8C764BC1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F38596-0AF0-4E35-BE3F-792F8CA143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64439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47309-D265-493D-92F8-808A8C764BC1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F38596-0AF0-4E35-BE3F-792F8CA143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61569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47309-D265-493D-92F8-808A8C764BC1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F38596-0AF0-4E35-BE3F-792F8CA143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6367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47309-D265-493D-92F8-808A8C764BC1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F38596-0AF0-4E35-BE3F-792F8CA143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25242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47309-D265-493D-92F8-808A8C764BC1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F38596-0AF0-4E35-BE3F-792F8CA143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56912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47309-D265-493D-92F8-808A8C764BC1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F38596-0AF0-4E35-BE3F-792F8CA143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76476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47309-D265-493D-92F8-808A8C764BC1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F38596-0AF0-4E35-BE3F-792F8CA143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9689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47309-D265-493D-92F8-808A8C764BC1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F38596-0AF0-4E35-BE3F-792F8CA143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4512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47309-D265-493D-92F8-808A8C764BC1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F38596-0AF0-4E35-BE3F-792F8CA143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65093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47309-D265-493D-92F8-808A8C764BC1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F38596-0AF0-4E35-BE3F-792F8CA143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977654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47309-D265-493D-92F8-808A8C764BC1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F38596-0AF0-4E35-BE3F-792F8CA143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25701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47309-D265-493D-92F8-808A8C764BC1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F38596-0AF0-4E35-BE3F-792F8CA143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902091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47309-D265-493D-92F8-808A8C764BC1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F38596-0AF0-4E35-BE3F-792F8CA143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027483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47309-D265-493D-92F8-808A8C764BC1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F38596-0AF0-4E35-BE3F-792F8CA143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08788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E947309-D265-493D-92F8-808A8C764BC1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6DF38596-0AF0-4E35-BE3F-792F8CA143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94438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709" r:id="rId2"/>
    <p:sldLayoutId id="2147483710" r:id="rId3"/>
    <p:sldLayoutId id="2147483711" r:id="rId4"/>
    <p:sldLayoutId id="2147483712" r:id="rId5"/>
    <p:sldLayoutId id="2147483713" r:id="rId6"/>
    <p:sldLayoutId id="2147483714" r:id="rId7"/>
    <p:sldLayoutId id="2147483715" r:id="rId8"/>
    <p:sldLayoutId id="2147483716" r:id="rId9"/>
    <p:sldLayoutId id="2147483717" r:id="rId10"/>
    <p:sldLayoutId id="2147483718" r:id="rId11"/>
    <p:sldLayoutId id="2147483719" r:id="rId12"/>
    <p:sldLayoutId id="2147483720" r:id="rId13"/>
    <p:sldLayoutId id="2147483721" r:id="rId14"/>
    <p:sldLayoutId id="2147483722" r:id="rId15"/>
    <p:sldLayoutId id="2147483723" r:id="rId16"/>
    <p:sldLayoutId id="2147483724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DDAEF0-7D3F-6395-0C48-F14701233B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79871" y="904569"/>
            <a:ext cx="9488129" cy="695631"/>
          </a:xfrm>
        </p:spPr>
        <p:txBody>
          <a:bodyPr>
            <a:normAutofit fontScale="90000"/>
          </a:bodyPr>
          <a:lstStyle/>
          <a:p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        Notre Dame University Bangladesh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11B141-8F2E-8702-DBE8-3AEB796BA1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70321" y="1848466"/>
            <a:ext cx="9488129" cy="4896464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Name          : Atiya Sanjidah Faiza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Id                : 06924205101012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Program      : Computer Science and Engineering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Batch          : CSE24(A)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Course Title: Data Structure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Course code: 0613-2108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Date            :11 November 2025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sz="30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sz="30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sz="30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87145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B5AB9F-3BFD-09F7-055F-648BBA3AE0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Presentation     </a:t>
            </a:r>
            <a:b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D9C001-EFA9-5188-26CE-D3CE875968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</a:t>
            </a:r>
          </a:p>
          <a:p>
            <a:pPr marL="0" indent="0"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Structure  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</a:t>
            </a:r>
          </a:p>
          <a:p>
            <a:pPr marL="0" indent="0">
              <a:buNone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Binary Indexed tree/Fenwick Tree</a:t>
            </a:r>
          </a:p>
          <a:p>
            <a:pPr marL="0" indent="0">
              <a:buNone/>
            </a:pP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5260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69C65F-20C6-2C08-F049-7AEE5CB8CA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Fenwick Tree /Binary Indexed Tree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8184A9-412E-8960-F6AB-76EFE96BC0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 data structure for handling array-based computations.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fast prefix sum and value updates.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also perform finding the longest prefix with sum with given value.</a:t>
            </a:r>
          </a:p>
        </p:txBody>
      </p:sp>
    </p:spTree>
    <p:extLst>
      <p:ext uri="{BB962C8B-B14F-4D97-AF65-F5344CB8AC3E}">
        <p14:creationId xmlns:p14="http://schemas.microsoft.com/office/powerpoint/2010/main" val="28217757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B9FE70-6D86-56C6-F499-FF1683C0A6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Operations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A59BD8-5293-74B6-D1E9-DE2C9DFC49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 Prefix operation:</a:t>
            </a:r>
          </a:p>
          <a:p>
            <a:pPr marL="0" indent="0">
              <a:buNone/>
            </a:pPr>
            <a:r>
              <a:rPr lang="en-US" dirty="0"/>
              <a:t>                      Quickly computes </a:t>
            </a:r>
            <a:r>
              <a:rPr lang="en-US" dirty="0" err="1"/>
              <a:t>sum,OR</a:t>
            </a: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Update operation:</a:t>
            </a:r>
          </a:p>
          <a:p>
            <a:pPr marL="0" indent="0">
              <a:buNone/>
            </a:pPr>
            <a:r>
              <a:rPr lang="en-US" dirty="0"/>
              <a:t>                    Update the value at any position efficiently.</a:t>
            </a:r>
          </a:p>
          <a:p>
            <a:pPr marL="0" indent="0">
              <a:buNone/>
            </a:pPr>
            <a:r>
              <a:rPr lang="en-US" dirty="0"/>
              <a:t>             </a:t>
            </a:r>
          </a:p>
        </p:txBody>
      </p:sp>
    </p:spTree>
    <p:extLst>
      <p:ext uri="{BB962C8B-B14F-4D97-AF65-F5344CB8AC3E}">
        <p14:creationId xmlns:p14="http://schemas.microsoft.com/office/powerpoint/2010/main" val="17156848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445B7-E51F-2F07-752D-7662290303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21FAB1-5441-4963-4ED5-147658A8C2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Cumulative frequency.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Dynamic prefix sum computation.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Inversion counting.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Order statistics.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Dynamic range queries.</a:t>
            </a:r>
          </a:p>
        </p:txBody>
      </p:sp>
    </p:spTree>
    <p:extLst>
      <p:ext uri="{BB962C8B-B14F-4D97-AF65-F5344CB8AC3E}">
        <p14:creationId xmlns:p14="http://schemas.microsoft.com/office/powerpoint/2010/main" val="22509751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C58BA5-88EA-543B-7C1E-9DDCCAABA3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98324"/>
            <a:ext cx="10018715" cy="139618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775BB3-2729-FF9E-14C0-8CE015A9D6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6336" y="1238865"/>
            <a:ext cx="10234662" cy="4699819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                   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index:</a:t>
            </a:r>
            <a:r>
              <a:rPr lang="en-US" dirty="0"/>
              <a:t>      0   1   2   3    4                                  [1,1]</a:t>
            </a:r>
          </a:p>
          <a:p>
            <a:pPr marL="0" indent="0">
              <a:buNone/>
            </a:pPr>
            <a:r>
              <a:rPr lang="en-US" sz="3500" dirty="0" err="1"/>
              <a:t>Arr</a:t>
            </a:r>
            <a:r>
              <a:rPr lang="en-US" sz="3500" dirty="0"/>
              <a:t>[0…n-1]={1,2,3,4,5}</a:t>
            </a:r>
            <a:r>
              <a:rPr lang="en-US" dirty="0"/>
              <a:t>                                                                  [1,2]                       [1,4]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                   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index:     1   2    3      4      5 </a:t>
            </a:r>
            <a:r>
              <a:rPr lang="en-US" dirty="0"/>
              <a:t>     </a:t>
            </a:r>
          </a:p>
          <a:p>
            <a:pPr marL="0" indent="0">
              <a:buNone/>
            </a:pPr>
            <a:r>
              <a:rPr lang="en-US" sz="3800" dirty="0"/>
              <a:t>BIT[1…..n]={1,3,3,10,5}</a:t>
            </a:r>
            <a:r>
              <a:rPr lang="en-US" dirty="0"/>
              <a:t>                                                                 [3,3]                          [5,5]                   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A760E904-DAFF-BA73-3DEB-C91E4D4FFA5B}"/>
              </a:ext>
            </a:extLst>
          </p:cNvPr>
          <p:cNvSpPr/>
          <p:nvPr/>
        </p:nvSpPr>
        <p:spPr>
          <a:xfrm>
            <a:off x="8593394" y="1238865"/>
            <a:ext cx="747251" cy="64892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D</a:t>
            </a: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4C83E0C6-B5EF-C02F-0280-375EA01627BA}"/>
              </a:ext>
            </a:extLst>
          </p:cNvPr>
          <p:cNvCxnSpPr>
            <a:cxnSpLocks/>
          </p:cNvCxnSpPr>
          <p:nvPr/>
        </p:nvCxnSpPr>
        <p:spPr>
          <a:xfrm flipH="1">
            <a:off x="7600335" y="1759974"/>
            <a:ext cx="993059" cy="501445"/>
          </a:xfrm>
          <a:prstGeom prst="straightConnector1">
            <a:avLst/>
          </a:prstGeom>
          <a:ln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Oval 11">
            <a:extLst>
              <a:ext uri="{FF2B5EF4-FFF2-40B4-BE49-F238E27FC236}">
                <a16:creationId xmlns:a16="http://schemas.microsoft.com/office/drawing/2014/main" id="{6BE647E5-7B96-3A27-0363-DFB3FBC07190}"/>
              </a:ext>
            </a:extLst>
          </p:cNvPr>
          <p:cNvSpPr/>
          <p:nvPr/>
        </p:nvSpPr>
        <p:spPr>
          <a:xfrm>
            <a:off x="6862918" y="2182761"/>
            <a:ext cx="737417" cy="83328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1</a:t>
            </a:r>
          </a:p>
          <a:p>
            <a:pPr algn="ctr"/>
            <a:r>
              <a:rPr lang="en-US" dirty="0">
                <a:solidFill>
                  <a:schemeClr val="tx2"/>
                </a:solidFill>
              </a:rPr>
              <a:t>1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136B91E-F9C6-F5BE-7B34-480AEA07C1CC}"/>
              </a:ext>
            </a:extLst>
          </p:cNvPr>
          <p:cNvCxnSpPr>
            <a:cxnSpLocks/>
            <a:stCxn id="4" idx="4"/>
          </p:cNvCxnSpPr>
          <p:nvPr/>
        </p:nvCxnSpPr>
        <p:spPr>
          <a:xfrm>
            <a:off x="8967020" y="1887794"/>
            <a:ext cx="0" cy="707922"/>
          </a:xfrm>
          <a:prstGeom prst="straightConnector1">
            <a:avLst/>
          </a:prstGeom>
          <a:ln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val 16">
            <a:extLst>
              <a:ext uri="{FF2B5EF4-FFF2-40B4-BE49-F238E27FC236}">
                <a16:creationId xmlns:a16="http://schemas.microsoft.com/office/drawing/2014/main" id="{6BEFE413-3371-FFF3-58E5-7AAE1B2C031D}"/>
              </a:ext>
            </a:extLst>
          </p:cNvPr>
          <p:cNvSpPr/>
          <p:nvPr/>
        </p:nvSpPr>
        <p:spPr>
          <a:xfrm>
            <a:off x="8750713" y="2595716"/>
            <a:ext cx="747244" cy="83328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3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2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1956094D-B52B-DC85-11A0-8ED3CDF55FDB}"/>
              </a:ext>
            </a:extLst>
          </p:cNvPr>
          <p:cNvCxnSpPr>
            <a:cxnSpLocks/>
          </p:cNvCxnSpPr>
          <p:nvPr/>
        </p:nvCxnSpPr>
        <p:spPr>
          <a:xfrm>
            <a:off x="9448792" y="1759974"/>
            <a:ext cx="1091389" cy="688258"/>
          </a:xfrm>
          <a:prstGeom prst="straightConnector1">
            <a:avLst/>
          </a:prstGeom>
          <a:ln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Oval 22">
            <a:extLst>
              <a:ext uri="{FF2B5EF4-FFF2-40B4-BE49-F238E27FC236}">
                <a16:creationId xmlns:a16="http://schemas.microsoft.com/office/drawing/2014/main" id="{191975DC-BD6D-13C8-F535-6EF1B55891C8}"/>
              </a:ext>
            </a:extLst>
          </p:cNvPr>
          <p:cNvSpPr/>
          <p:nvPr/>
        </p:nvSpPr>
        <p:spPr>
          <a:xfrm>
            <a:off x="10274713" y="2595715"/>
            <a:ext cx="747244" cy="83328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10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4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1BC24E78-F0CB-B8C0-FD3C-6BA937521C9A}"/>
              </a:ext>
            </a:extLst>
          </p:cNvPr>
          <p:cNvCxnSpPr>
            <a:cxnSpLocks/>
          </p:cNvCxnSpPr>
          <p:nvPr/>
        </p:nvCxnSpPr>
        <p:spPr>
          <a:xfrm>
            <a:off x="9124335" y="3588773"/>
            <a:ext cx="0" cy="833284"/>
          </a:xfrm>
          <a:prstGeom prst="straightConnector1">
            <a:avLst/>
          </a:prstGeom>
          <a:ln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Oval 29">
            <a:extLst>
              <a:ext uri="{FF2B5EF4-FFF2-40B4-BE49-F238E27FC236}">
                <a16:creationId xmlns:a16="http://schemas.microsoft.com/office/drawing/2014/main" id="{B8B65B07-EB7E-233C-3716-2F6231DB4ADD}"/>
              </a:ext>
            </a:extLst>
          </p:cNvPr>
          <p:cNvSpPr/>
          <p:nvPr/>
        </p:nvSpPr>
        <p:spPr>
          <a:xfrm>
            <a:off x="8701548" y="4591665"/>
            <a:ext cx="904568" cy="92423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3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F06E42DA-4696-9B5B-0ED2-6B1688997F12}"/>
              </a:ext>
            </a:extLst>
          </p:cNvPr>
          <p:cNvCxnSpPr/>
          <p:nvPr/>
        </p:nvCxnSpPr>
        <p:spPr>
          <a:xfrm>
            <a:off x="10717161" y="3588773"/>
            <a:ext cx="108155" cy="1002892"/>
          </a:xfrm>
          <a:prstGeom prst="straightConnector1">
            <a:avLst/>
          </a:prstGeom>
          <a:ln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Oval 32">
            <a:extLst>
              <a:ext uri="{FF2B5EF4-FFF2-40B4-BE49-F238E27FC236}">
                <a16:creationId xmlns:a16="http://schemas.microsoft.com/office/drawing/2014/main" id="{F77DF0FE-5A33-52BB-730C-FE98BBBCB1EA}"/>
              </a:ext>
            </a:extLst>
          </p:cNvPr>
          <p:cNvSpPr/>
          <p:nvPr/>
        </p:nvSpPr>
        <p:spPr>
          <a:xfrm>
            <a:off x="10648335" y="4739148"/>
            <a:ext cx="747244" cy="87998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5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9818549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E9D428-53DF-C024-1473-EB4D2D88F7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2724" y="-110612"/>
            <a:ext cx="10391978" cy="1064342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5C0C20-A457-F231-4928-F85EBDD493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7084" y="1052053"/>
            <a:ext cx="10745939" cy="473914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void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init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(int size) {                                                                    long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long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query(int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){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                                 long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long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sum=0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n = size;                                                                                 while(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&gt;=){     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for (int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0;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&lt;= n;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++)                                                                         sum+=bit[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];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bit[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= 0;                                                                                            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-=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&amp;-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                                                                                                                 } return sum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void update(int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long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long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val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{                                                                      }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while (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&lt;= n) {                                                                                long long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range_query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(int p, int r){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bit[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+=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val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                                                                                  return query(r) –query(p-1);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+=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 -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                                                                                      }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}                                                                                                        }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pPr marL="0" indent="0">
              <a:buNone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56724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7523E1-5379-C190-FA6B-E475557B32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Complexity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0C28DD-BED9-1A4B-0A30-2F801CC054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Update: O(log n)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 :   O(log n)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Range query: O(log n)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Hence the time complexity is O(log n)</a:t>
            </a:r>
          </a:p>
        </p:txBody>
      </p:sp>
    </p:spTree>
    <p:extLst>
      <p:ext uri="{BB962C8B-B14F-4D97-AF65-F5344CB8AC3E}">
        <p14:creationId xmlns:p14="http://schemas.microsoft.com/office/powerpoint/2010/main" val="40235389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F5479E-3D90-B903-0084-DCD85C3873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C2AFC5-AD12-417A-B07B-A93D906611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Handles only point updates and prefix/range sum queries directly.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Cannot efficiently process both range updates and range queries simultaneously without modifications.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Limited to operations that are invertible and commutative (e.g., sum, XOR).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Less intuitive for multi-dimensional data.</a:t>
            </a:r>
          </a:p>
        </p:txBody>
      </p:sp>
    </p:spTree>
    <p:extLst>
      <p:ext uri="{BB962C8B-B14F-4D97-AF65-F5344CB8AC3E}">
        <p14:creationId xmlns:p14="http://schemas.microsoft.com/office/powerpoint/2010/main" val="16728174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BE1ABD-D1A3-00D1-F909-FCA98680A7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Segment Tree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0F78DB-FB4F-F048-D84C-E68F7BC67D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           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Segment Tree is better than Fenwick Tree because: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handle range updates and range queries efficiently.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more complex operations beyond sum/XOR (min, max,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gcd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etc.).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Easier to extend to custom operations that are not necessarily invertible.</a:t>
            </a:r>
          </a:p>
        </p:txBody>
      </p:sp>
    </p:spTree>
    <p:extLst>
      <p:ext uri="{BB962C8B-B14F-4D97-AF65-F5344CB8AC3E}">
        <p14:creationId xmlns:p14="http://schemas.microsoft.com/office/powerpoint/2010/main" val="11610306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326074-3733-C160-1423-E3C79FD4A4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66841B-59D2-E26D-E4A6-B4B839B0DA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	Fenwick Tree provides a clean, efficient O(log n) approach for both update and query operations.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	It requires less memory and simpler code compared to segment trees.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	Ideal for problems with frequent updates and prefix sum queries.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  In future extending Fenwick Tree to multi-dimensional data (2D, 3D) will be very helpful.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	Integrating in data streaming and real-time analytics systems where fast incremental updates are essential.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21005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076CBF-11EA-1B21-D726-508BB83D77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9E4D3C-3993-41B0-0B9E-D9558DBB12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https://cp-algorithms.com/data_structures/fenwick.htmlCompetitive programming.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https://www.geeksforgeeks.org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Wikipedia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15653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9A41ED-E840-41E9-975E-178EEBD1D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1"/>
            <a:ext cx="10018714" cy="1221658"/>
          </a:xfrm>
        </p:spPr>
        <p:txBody>
          <a:bodyPr/>
          <a:lstStyle/>
          <a:p>
            <a:r>
              <a:rPr lang="en-US" dirty="0"/>
              <a:t>The end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EA7B0E-FE54-E9E4-3931-C382A86826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6000" dirty="0"/>
              <a:t>                         Thank</a:t>
            </a:r>
          </a:p>
          <a:p>
            <a:pPr marL="0" indent="0">
              <a:buNone/>
            </a:pPr>
            <a:r>
              <a:rPr lang="en-US" sz="6000" dirty="0"/>
              <a:t>                            you       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108566399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313</TotalTime>
  <Words>579</Words>
  <Application>Microsoft Office PowerPoint</Application>
  <PresentationFormat>Widescreen</PresentationFormat>
  <Paragraphs>101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</vt:lpstr>
      <vt:lpstr>Corbel</vt:lpstr>
      <vt:lpstr>Times New Roman</vt:lpstr>
      <vt:lpstr>Wingdings</vt:lpstr>
      <vt:lpstr>Parallax</vt:lpstr>
      <vt:lpstr>         Notre Dame University Bangladesh</vt:lpstr>
      <vt:lpstr>Presentation      On</vt:lpstr>
      <vt:lpstr>Fenwick Tree /Binary Indexed Tree</vt:lpstr>
      <vt:lpstr>Main Operations</vt:lpstr>
      <vt:lpstr>Applications</vt:lpstr>
      <vt:lpstr>Simulation</vt:lpstr>
      <vt:lpstr>Algorithm</vt:lpstr>
      <vt:lpstr>Time Complexity</vt:lpstr>
      <vt:lpstr>Limitations</vt:lpstr>
      <vt:lpstr>Segment Tree</vt:lpstr>
      <vt:lpstr>Conclusion</vt:lpstr>
      <vt:lpstr>References</vt:lpstr>
      <vt:lpstr>The end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atiya sanjidah</dc:creator>
  <cp:lastModifiedBy>atiya sanjidah</cp:lastModifiedBy>
  <cp:revision>1</cp:revision>
  <dcterms:created xsi:type="dcterms:W3CDTF">2025-11-10T19:25:10Z</dcterms:created>
  <dcterms:modified xsi:type="dcterms:W3CDTF">2025-11-11T00:38:29Z</dcterms:modified>
</cp:coreProperties>
</file>